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embeddedFontLst>
    <p:embeddedFont>
      <p:font typeface="Outfit" panose="020B0604020202020204" charset="0"/>
      <p:regular r:id="rId25"/>
      <p:bold r:id="rId26"/>
    </p:embeddedFont>
    <p:embeddedFont>
      <p:font typeface="Outfit Medium" panose="020B0604020202020204" charset="0"/>
      <p:regular r:id="rId27"/>
      <p:bold r:id="rId28"/>
    </p:embeddedFont>
    <p:embeddedFont>
      <p:font typeface="Outfit SemiBold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DDE57-1C7E-4436-A540-98631EBFAE3C}" v="4" dt="2026-07-03T16:28:11.226"/>
    <p1510:client id="{52D797D4-0C4E-4DBF-81B2-D30DAC74384D}" v="221" dt="2026-07-03T17:22:54.690"/>
    <p1510:client id="{E0820B4A-FB54-436C-B361-066EF3286DE4}" v="108" dt="2026-07-03T17:33:13.826"/>
  </p1510:revLst>
</p1510:revInfo>
</file>

<file path=ppt/tableStyles.xml><?xml version="1.0" encoding="utf-8"?>
<a:tblStyleLst xmlns:a="http://schemas.openxmlformats.org/drawingml/2006/main" def="{41A2E50A-F72E-462A-A982-8603000805B9}">
  <a:tblStyle styleId="{41A2E50A-F72E-462A-A982-8603000805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DAD926-2ACC-B899-DDDF-F91F34B86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43" y="160959"/>
            <a:ext cx="12192000" cy="6361911"/>
          </a:xfrm>
          <a:prstGeom prst="rect">
            <a:avLst/>
          </a:prstGeom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4508" y="4082504"/>
            <a:ext cx="3862685" cy="129897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41059" y="1476523"/>
            <a:ext cx="9109732" cy="2285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Сервіс </a:t>
            </a:r>
            <a:r>
              <a:rPr lang="en-US" sz="4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для</a:t>
            </a:r>
            <a:r>
              <a:rPr lang="en-US" sz="4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4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підбору</a:t>
            </a:r>
            <a:r>
              <a:rPr lang="en-US" sz="4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4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та</a:t>
            </a:r>
            <a:br>
              <a:rPr lang="en-US" sz="1800" b="0" i="0" u="none" strike="noStrike" cap="none" dirty="0">
                <a:latin typeface="Calibri"/>
                <a:ea typeface="Calibri"/>
                <a:cs typeface="Calibri"/>
              </a:rPr>
            </a:br>
            <a:r>
              <a:rPr lang="en-US" sz="4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4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прослуховування</a:t>
            </a:r>
            <a:r>
              <a:rPr lang="en-US" sz="4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4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аудіофайлів</a:t>
            </a:r>
            <a:r>
              <a:rPr lang="en-US" sz="4500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 </a:t>
            </a:r>
            <a:r>
              <a:rPr lang="en-US" sz="4500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Фронтенд</a:t>
            </a:r>
            <a:endParaRPr dirty="0" err="1"/>
          </a:p>
        </p:txBody>
      </p:sp>
      <p:sp>
        <p:nvSpPr>
          <p:cNvPr id="88" name="Google Shape;88;p13"/>
          <p:cNvSpPr txBox="1"/>
          <p:nvPr/>
        </p:nvSpPr>
        <p:spPr>
          <a:xfrm>
            <a:off x="4164508" y="4327886"/>
            <a:ext cx="3862800" cy="8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Виконав</a:t>
            </a:r>
            <a:r>
              <a:rPr lang="en-US" sz="1650" b="1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1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здобувач</a:t>
            </a:r>
            <a:r>
              <a:rPr lang="en-US" sz="1650" b="1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 ПЗПІ</a:t>
            </a:r>
            <a:r>
              <a:rPr lang="en-US" sz="1700" b="1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-22-5</a:t>
            </a:r>
            <a:r>
              <a:rPr lang="en-US" sz="165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 </a:t>
            </a:r>
            <a:endParaRPr lang="en-US" sz="1650" dirty="0">
              <a:solidFill>
                <a:srgbClr val="CBD5E1"/>
              </a:solidFill>
              <a:ea typeface="Outfit"/>
              <a:sym typeface="Outfit"/>
            </a:endParaRPr>
          </a:p>
          <a:p>
            <a:pPr algn="ctr">
              <a:lnSpc>
                <a:spcPct val="160000"/>
              </a:lnSpc>
            </a:pPr>
            <a:r>
              <a:rPr lang="en-US" sz="1650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Микита</a:t>
            </a:r>
            <a:r>
              <a:rPr lang="en-US" sz="165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 ОЛЕЩЕНКО</a:t>
            </a:r>
            <a:endParaRPr lang="en-US" sz="1650" dirty="0">
              <a:solidFill>
                <a:srgbClr val="CBD5E1"/>
              </a:solidFill>
              <a:latin typeface="Outfit"/>
            </a:endParaRPr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E9F74FC5-4B9D-D4B8-DA66-855B0FA5685E}"/>
              </a:ext>
            </a:extLst>
          </p:cNvPr>
          <p:cNvSpPr txBox="1"/>
          <p:nvPr/>
        </p:nvSpPr>
        <p:spPr>
          <a:xfrm>
            <a:off x="4164507" y="5380171"/>
            <a:ext cx="38628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50" b="1" dirty="0" err="1">
                <a:solidFill>
                  <a:srgbClr val="CBD5E1"/>
                </a:solidFill>
                <a:ea typeface="Outfit"/>
              </a:rPr>
              <a:t>Керівник</a:t>
            </a:r>
            <a:endParaRPr lang="en-US" sz="1650" b="1">
              <a:solidFill>
                <a:srgbClr val="CBD5E1"/>
              </a:solidFill>
              <a:ea typeface="Outfit"/>
            </a:endParaRPr>
          </a:p>
          <a:p>
            <a:pPr algn="ctr">
              <a:lnSpc>
                <a:spcPct val="160000"/>
              </a:lnSpc>
            </a:pPr>
            <a:r>
              <a:rPr lang="en-US" sz="1650" dirty="0" err="1">
                <a:solidFill>
                  <a:srgbClr val="CBD5E1"/>
                </a:solidFill>
                <a:latin typeface="Outfit"/>
                <a:sym typeface="Outfit"/>
              </a:rPr>
              <a:t>проф</a:t>
            </a:r>
            <a:r>
              <a:rPr lang="en-US" sz="1650" dirty="0">
                <a:solidFill>
                  <a:srgbClr val="CBD5E1"/>
                </a:solidFill>
                <a:latin typeface="Outfit"/>
                <a:sym typeface="Outfit"/>
              </a:rPr>
              <a:t>. </a:t>
            </a:r>
            <a:r>
              <a:rPr lang="en-US" sz="1650" dirty="0" err="1">
                <a:solidFill>
                  <a:srgbClr val="CBD5E1"/>
                </a:solidFill>
                <a:latin typeface="Outfit"/>
                <a:sym typeface="Outfit"/>
              </a:rPr>
              <a:t>Володимир</a:t>
            </a:r>
            <a:r>
              <a:rPr lang="en-US" sz="1650" dirty="0">
                <a:solidFill>
                  <a:srgbClr val="CBD5E1"/>
                </a:solidFill>
                <a:latin typeface="Outfit"/>
                <a:sym typeface="Outfit"/>
              </a:rPr>
              <a:t> БОНДАРЄВ</a:t>
            </a:r>
            <a:endParaRPr lang="en-US" sz="1650" dirty="0">
              <a:solidFill>
                <a:srgbClr val="CBD5E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42950" y="2071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1998241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Потокові методи розповсюдження контенту стали домінуючими у сучасній музичній індустрії.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42950" y="2824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74153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Користувачі очікують миттєвого доступу до бази музики без необхідності завантаження файлів на пристрій.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42950" y="3576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503191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Архітектура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Single Page Application (SPA)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забезпечує життєво необхідну неперервність звуку під час навігації.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42950" y="43291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246486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Екосистема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Telegram Mini Apps (TMA)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створює нову інноваційну нішу для медіа-плеєрів, поєднуючи соціальну зручність і гнучкість веб-технологій.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Актуальність теми</a:t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4875" y="347650"/>
            <a:ext cx="3619500" cy="6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187F3DDE-7757-30A2-3C2B-B76B44C1C07D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2</a:t>
            </a:r>
            <a:endParaRPr lang="ru-RU" sz="16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4" descr="image.png">
            <a:extLst>
              <a:ext uri="{FF2B5EF4-FFF2-40B4-BE49-F238E27FC236}">
                <a16:creationId xmlns:a16="http://schemas.microsoft.com/office/drawing/2014/main" id="{763477CC-CA4B-E0E1-D7B8-A0093CFF39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8;p15">
            <a:extLst>
              <a:ext uri="{FF2B5EF4-FFF2-40B4-BE49-F238E27FC236}">
                <a16:creationId xmlns:a16="http://schemas.microsoft.com/office/drawing/2014/main" id="{1926D4DC-530F-40E9-B37C-865925D0BFF0}"/>
              </a:ext>
            </a:extLst>
          </p:cNvPr>
          <p:cNvSpPr txBox="1"/>
          <p:nvPr/>
        </p:nvSpPr>
        <p:spPr>
          <a:xfrm>
            <a:off x="2296" y="522982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300" dirty="0" err="1">
                <a:solidFill>
                  <a:srgbClr val="F8FAFC"/>
                </a:solidFill>
                <a:latin typeface="Outfit SemiBold"/>
                <a:sym typeface="Outfit SemiBold"/>
              </a:rPr>
              <a:t>Існуючі</a:t>
            </a:r>
            <a:r>
              <a:rPr lang="en-US" sz="3300" dirty="0">
                <a:solidFill>
                  <a:srgbClr val="F8FAFC"/>
                </a:solidFill>
                <a:latin typeface="Outfit SemiBold"/>
                <a:sym typeface="Outfit SemiBold"/>
              </a:rPr>
              <a:t> </a:t>
            </a:r>
            <a:r>
              <a:rPr lang="en-US" sz="3300" dirty="0" err="1">
                <a:solidFill>
                  <a:srgbClr val="F8FAFC"/>
                </a:solidFill>
                <a:latin typeface="Outfit SemiBold"/>
                <a:sym typeface="Outfit SemiBold"/>
              </a:rPr>
              <a:t>рішення</a:t>
            </a:r>
            <a:endParaRPr lang="en-US" sz="3300" dirty="0" err="1">
              <a:solidFill>
                <a:srgbClr val="F8FAFC"/>
              </a:solidFill>
              <a:latin typeface="Outfit SemiBold"/>
            </a:endParaRP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2886F8-BFD8-DC54-FC26-6FAF1A4D8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1276684"/>
            <a:ext cx="8200571" cy="4965034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9DC031-4C4C-2C5C-C168-DBA4DCC08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0" y="1276349"/>
            <a:ext cx="2676072" cy="4987473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65E83598-7276-F8F3-548D-AC3E8DA27ED7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3</a:t>
            </a:r>
            <a:endParaRPr lang="ru-RU" sz="16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21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571500" y="1427857"/>
            <a:ext cx="11049000" cy="490716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571500" y="1427857"/>
          <a:ext cx="11048975" cy="4907125"/>
        </p:xfrm>
        <a:graphic>
          <a:graphicData uri="http://schemas.openxmlformats.org/drawingml/2006/table">
            <a:tbl>
              <a:tblPr firstRow="1" bandRow="1">
                <a:noFill/>
                <a:tableStyleId>{41A2E50A-F72E-462A-A982-8603000805B9}</a:tableStyleId>
              </a:tblPr>
              <a:tblGrid>
                <a:gridCol w="24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818C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Критерій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818C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Spotify (Web)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818C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Telegram-боти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818C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Hydra Music Player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Формат доступу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Браузер / </a:t>
                      </a:r>
                      <a:r>
                        <a:rPr lang="en-US" sz="1500">
                          <a:latin typeface="Outfit"/>
                          <a:ea typeface="Outfit"/>
                          <a:cs typeface="Outfit"/>
                          <a:sym typeface="Outfit"/>
                        </a:rPr>
                        <a:t>З</a:t>
                      </a: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астосунок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Текстовий чат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T</a:t>
                      </a:r>
                      <a:r>
                        <a:rPr lang="en-US" sz="1500">
                          <a:latin typeface="Outfit"/>
                          <a:ea typeface="Outfit"/>
                          <a:cs typeface="Outfit"/>
                          <a:sym typeface="Outfit"/>
                        </a:rPr>
                        <a:t>elegram Mini App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Архітектура клієнта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SPA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Відсутня (Server-side text)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React 19 SPA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Безперервність аудіо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Висока (у межах вкладки)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Низька (</a:t>
                      </a:r>
                      <a:r>
                        <a:rPr lang="en-US" sz="1500">
                          <a:latin typeface="Outfit"/>
                          <a:ea typeface="Outfit"/>
                          <a:cs typeface="Outfit"/>
                          <a:sym typeface="Outfit"/>
                        </a:rPr>
                        <a:t>залежить від чату</a:t>
                      </a: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Висока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Інтеграція у чат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Відсутня (окреме вікно)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Повна (але </a:t>
                      </a:r>
                      <a:r>
                        <a:rPr lang="en-US" sz="1500">
                          <a:latin typeface="Outfit"/>
                          <a:ea typeface="Outfit"/>
                          <a:cs typeface="Outfit"/>
                          <a:sym typeface="Outfit"/>
                        </a:rPr>
                        <a:t>обмежена текстом</a:t>
                      </a: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Outfit"/>
                          <a:ea typeface="Outfit"/>
                          <a:cs typeface="Outfit"/>
                          <a:sym typeface="Outfit"/>
                        </a:rPr>
                        <a:t>Глибока інтеграція (TMA 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" name="Google Shape;112;p15"/>
          <p:cNvSpPr/>
          <p:nvPr/>
        </p:nvSpPr>
        <p:spPr>
          <a:xfrm>
            <a:off x="571500" y="2177355"/>
            <a:ext cx="24528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024336" y="2177355"/>
            <a:ext cx="3064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088707" y="2177355"/>
            <a:ext cx="2659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748414" y="2177355"/>
            <a:ext cx="2872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3215580"/>
            <a:ext cx="24528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024336" y="3215580"/>
            <a:ext cx="3064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88707" y="3215580"/>
            <a:ext cx="2659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748414" y="3215580"/>
            <a:ext cx="2872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4253805"/>
            <a:ext cx="24528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024336" y="4253805"/>
            <a:ext cx="3064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88707" y="4253805"/>
            <a:ext cx="2659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748414" y="4253805"/>
            <a:ext cx="2872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5292030"/>
            <a:ext cx="24528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024336" y="5292030"/>
            <a:ext cx="3064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88707" y="5292030"/>
            <a:ext cx="2659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748414" y="5292030"/>
            <a:ext cx="2872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296" y="522982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Аналіз існуючих рішень</a:t>
            </a:r>
            <a:endParaRPr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1ACFCD9-060E-B70C-2118-27B9C6786D2C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4</a:t>
            </a:r>
            <a:endParaRPr lang="ru-RU" sz="16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66900"/>
            <a:ext cx="342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866900"/>
            <a:ext cx="342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866900"/>
            <a:ext cx="3429000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59740" y="3019425"/>
            <a:ext cx="265251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Переривання звуку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3524250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При переході між сторінками класичних сайтів аудіо-потік розривається, що критично псує користувацький досвід під час прослуховування.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964921" y="3019425"/>
            <a:ext cx="226215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Фрагментація UI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29150" y="3524250"/>
            <a:ext cx="29337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Різний та нестабільний вигляд на різних пристроях значно підвищує когнітивне навантаження при переході між мобільною та десктопною платформами.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65807" y="3019425"/>
            <a:ext cx="308038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Тривале завантаження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39150" y="3524250"/>
            <a:ext cx="29337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Отримання прямих посилань на медіа-потік із зовнішніх API часто супроводжується ефектом «зависання» плеєра під час вибору треку.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8825" y="22669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550" y="22669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2266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Виявлені проблеми аналогів</a:t>
            </a:r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93F74C2-DCE9-0B19-2361-5DF0C1917F58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5</a:t>
            </a:r>
            <a:endParaRPr lang="ru-RU" sz="16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2662"/>
            <a:ext cx="528637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52662"/>
            <a:ext cx="5286375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62025" y="2643187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Технологічна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мета</a:t>
            </a:r>
            <a:endParaRPr lang="ru-RU" dirty="0" err="1"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148012"/>
            <a:ext cx="45053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Розробити фронтенд-частину мультимедійної системи Hydra Music Player у форматі Telegram Mini App. Для оптимізації продуктивності необхідно використати компонентну архітектуру SPA, бібліотеку React 19 та утилітарний фреймворк Tailwind CSS 4.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24650" y="2643187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Функціональна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мета</a:t>
            </a:r>
            <a:endParaRPr lang="ru-RU" dirty="0" err="1"/>
          </a:p>
        </p:txBody>
      </p:sp>
      <p:sp>
        <p:nvSpPr>
          <p:cNvPr id="157" name="Google Shape;157;p17"/>
          <p:cNvSpPr txBox="1"/>
          <p:nvPr/>
        </p:nvSpPr>
        <p:spPr>
          <a:xfrm>
            <a:off x="6724650" y="3148012"/>
            <a:ext cx="45053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Забезпечити стабільне та безперервне відтворення аудіо, впровадити інноваційні алгоритми розумного попереднього завантаження (Smart Preload) та створити єдиний уніфікований інтерфейс користувача з підтримкою гнучкої локалізації.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571500"/>
            <a:ext cx="1105060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Постановка</a:t>
            </a: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задачі</a:t>
            </a:r>
            <a:endParaRPr lang="ru-RU" dirty="0" err="1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CC1DAC82-0CFD-35B5-D49F-B5B9EA77FCE7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6</a:t>
            </a:r>
            <a:endParaRPr lang="ru-RU" sz="16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333500" y="1762125"/>
            <a:ext cx="10001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Швидкий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пошук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контенту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Розробити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інструментарій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миттєвого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знаходження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музики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з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реактивною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видачею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відображенням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результатів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1333500" y="2609850"/>
            <a:ext cx="10001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Безперебійний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стрімінг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Реалізувати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навігацію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часовій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шкалі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алгоритм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підвантаження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наступних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композицій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у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фоновому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режимі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(Smart Preload).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1333500" y="3457575"/>
            <a:ext cx="10001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Керування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медіатекою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Забезпечити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динамічну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маніпуляцію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плейлистами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швидкий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доступ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розділу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персональних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вподобань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lang="en-US" sz="1500" dirty="0">
              <a:solidFill>
                <a:srgbClr val="CBD5E1"/>
              </a:solidFill>
              <a:latin typeface="Outfit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333500" y="4305300"/>
            <a:ext cx="10001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Динамічна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локалізація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Інтегрувати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алгоритми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зміни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мови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інтерфейсу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реальному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часі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без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необхідності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повного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перезавантаження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сторінки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lang="en-US" sz="1500" dirty="0">
              <a:solidFill>
                <a:srgbClr val="CBD5E1"/>
              </a:solidFill>
              <a:latin typeface="Outfit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333500" y="5153025"/>
            <a:ext cx="10001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Соціальна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інтеграція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Використати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можливості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платформи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TMA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прямого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надсилання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треків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посилань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у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чати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Telegram.</a:t>
            </a:r>
            <a:endParaRPr dirty="0"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17764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624137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31958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51673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Ключові функціональні вимоги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925" y="3461800"/>
            <a:ext cx="333375" cy="2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858F75F3-CB90-4041-4CD6-605773E2685B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7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1842169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Проєктування архітектури системи базується на тісній взаємодії двох взаємопов’язаних підсистем: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42950" y="2824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09625" y="2750716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Чат-інтерфейс (Telegram Бот):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Забезпечує швидкий доступ, текстовий та розширений голосовий пошук, а також отримання прямих аудіофайлів.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42950" y="3881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09625" y="3798811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Веб-застосунок (TMA):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Виступає як повноцінний мультимедійний плеєр для управління персональними плейлистами та чергою.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42950" y="4938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09625" y="485608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Обидві підсистеми гарантовано синхронізують дані через єдиний ідентифікатор користувача.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Діаграма прецедентів (UML)</a:t>
            </a:r>
            <a:endParaRPr/>
          </a:p>
        </p:txBody>
      </p:sp>
      <p:pic>
        <p:nvPicPr>
          <p:cNvPr id="188" name="Google Shape;188;p19" title="Use Ca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3200" y="79125"/>
            <a:ext cx="5202125" cy="66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0EE2A991-C7AF-DCDD-BEC0-6C02133584F5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8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5062"/>
            <a:ext cx="5286375" cy="1036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154" y="4037919"/>
            <a:ext cx="5286375" cy="1029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962025" y="2795587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Інтерактивний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пошук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музики</a:t>
            </a:r>
            <a:endParaRPr lang="ru-RU" dirty="0" err="1"/>
          </a:p>
        </p:txBody>
      </p:sp>
      <p:sp>
        <p:nvSpPr>
          <p:cNvPr id="198" name="Google Shape;198;p20"/>
          <p:cNvSpPr txBox="1"/>
          <p:nvPr/>
        </p:nvSpPr>
        <p:spPr>
          <a:xfrm>
            <a:off x="911679" y="4428444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Гнучке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отримання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файлів</a:t>
            </a:r>
            <a:endParaRPr lang="ru-RU" dirty="0" err="1"/>
          </a:p>
        </p:txBody>
      </p:sp>
      <p:sp>
        <p:nvSpPr>
          <p:cNvPr id="200" name="Google Shape;200;p20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Сценарії: Чат-інтерфейс</a:t>
            </a:r>
            <a:endParaRPr/>
          </a:p>
        </p:txBody>
      </p:sp>
      <p:pic>
        <p:nvPicPr>
          <p:cNvPr id="2" name="Рисунок 1" descr="Изображение выглядит как текст, электрони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555F49-2B27-F7C0-A3DC-098C619D7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098" y="1423306"/>
            <a:ext cx="2812144" cy="5230587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ACA1035E-5E22-3F89-F55F-03C4A6C61541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9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786" y="1213303"/>
            <a:ext cx="3429000" cy="183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529" y="3136447"/>
            <a:ext cx="3429000" cy="175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043" y="4965247"/>
            <a:ext cx="3429000" cy="17512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1093386" y="2365828"/>
            <a:ext cx="2457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Прослуховування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604318" y="4288972"/>
            <a:ext cx="142127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Медіатека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116895" y="6117772"/>
            <a:ext cx="242514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Соціальні функції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3686" y="1613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854" y="353649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9518" y="536529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Сценарії: Веб-застосунок (TMA)</a:t>
            </a:r>
            <a:endParaRPr/>
          </a:p>
        </p:txBody>
      </p:sp>
      <p:pic>
        <p:nvPicPr>
          <p:cNvPr id="2" name="Рисунок 1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F0ACE6-04B1-95C3-A44D-D9CD69F70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3753" y="1211489"/>
            <a:ext cx="3195865" cy="5421993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электроника, снимок экран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007294-6F3C-F216-93F0-3CC576D7EEF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18" t="315" r="447" b="-134"/>
          <a:stretch>
            <a:fillRect/>
          </a:stretch>
        </p:blipFill>
        <p:spPr>
          <a:xfrm>
            <a:off x="4787447" y="1200152"/>
            <a:ext cx="3226748" cy="5436219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A1098EC-A7D3-59EA-E77E-1A51D473034A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10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557" y="1207633"/>
            <a:ext cx="5286375" cy="102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2182" y="1207633"/>
            <a:ext cx="5286375" cy="10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1020082" y="1598158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Компонентна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структура</a:t>
            </a:r>
            <a:endParaRPr lang="ru-RU" dirty="0" err="1"/>
          </a:p>
        </p:txBody>
      </p:sp>
      <p:sp>
        <p:nvSpPr>
          <p:cNvPr id="228" name="Google Shape;228;p22"/>
          <p:cNvSpPr txBox="1"/>
          <p:nvPr/>
        </p:nvSpPr>
        <p:spPr>
          <a:xfrm>
            <a:off x="6782707" y="1598158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Односпрямований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потік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даних</a:t>
            </a:r>
            <a:endParaRPr lang="ru-RU" dirty="0" err="1"/>
          </a:p>
        </p:txBody>
      </p:sp>
      <p:sp>
        <p:nvSpPr>
          <p:cNvPr id="230" name="Google Shape;230;p22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Архітектура програмного забезпечення</a:t>
            </a:r>
            <a:endParaRPr/>
          </a:p>
        </p:txBody>
      </p:sp>
      <p:pic>
        <p:nvPicPr>
          <p:cNvPr id="2" name="Рисунок 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30DA78-382A-5242-2661-C5D3D9899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8" y="2427742"/>
            <a:ext cx="11096625" cy="3990975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8156C288-1162-904F-7A94-98A43428DA5D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11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3039950" y="442710"/>
            <a:ext cx="611950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Структура</a:t>
            </a: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та</a:t>
            </a: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Маршрутизація</a:t>
            </a:r>
            <a:endParaRPr lang="ru-RU" dirty="0" err="1"/>
          </a:p>
        </p:txBody>
      </p:sp>
      <p:pic>
        <p:nvPicPr>
          <p:cNvPr id="2" name="Рисунок 1" descr="Изображение выглядит как текст, диаграмма, План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70A8CB-5680-1BC0-F50E-8883AE462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34" y="1218596"/>
            <a:ext cx="11218705" cy="5172074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40ED0CC9-7EA2-FB1D-62BC-A80CAAF637F4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12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342900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895475"/>
            <a:ext cx="342900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895475"/>
            <a:ext cx="3429000" cy="39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730930" y="3048000"/>
            <a:ext cx="111013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React 19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19150" y="3552825"/>
            <a:ext cx="29337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Декларативна модель та оновлений паралельний рендеринг дозволяють ефективно керувати складним станом медіа-плеєра абсолютно без втрати кадрів.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710951" y="3048000"/>
            <a:ext cx="77009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Vite 7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4629150" y="3552825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Використання механізмів Native ESM забезпечує миттєвий запуск сервера розробки та дуже глибоку оптимізацію фінального бандла.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8940879" y="3048000"/>
            <a:ext cx="193024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Tailwind CSS 4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8439150" y="3552825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Утилітарна стилізація компонентів значно зменшує розмір CSS-файлів та прискорює відмальовування візуальної оболонки плеєра.</a:t>
            </a:r>
            <a:endParaRPr/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7400" y="22955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5975" y="22955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22955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Вибір технологічного стеку</a:t>
            </a:r>
            <a:endParaRPr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6BA8472E-A82A-8C99-A93F-6FA39892C98A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13</a:t>
            </a:r>
            <a:endParaRPr lang="ru-RU" sz="16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6548"/>
            <a:ext cx="5286375" cy="113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439" y="4480605"/>
            <a:ext cx="5286375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838654" y="2352902"/>
            <a:ext cx="4730591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50" dirty="0">
                <a:solidFill>
                  <a:srgbClr val="818CF8"/>
                </a:solidFill>
                <a:sym typeface="Outfit Medium"/>
              </a:rPr>
              <a:t>Асинхронне </a:t>
            </a:r>
            <a:r>
              <a:rPr lang="en-US" sz="2250" dirty="0" err="1">
                <a:solidFill>
                  <a:srgbClr val="818CF8"/>
                </a:solidFill>
                <a:sym typeface="Outfit Medium"/>
              </a:rPr>
              <a:t>опитування</a:t>
            </a:r>
            <a:r>
              <a:rPr lang="en-US" sz="2250" dirty="0">
                <a:solidFill>
                  <a:srgbClr val="818CF8"/>
                </a:solidFill>
                <a:sym typeface="Outfit Medium"/>
              </a:rPr>
              <a:t> </a:t>
            </a:r>
            <a:r>
              <a:rPr lang="en-US" sz="2250" dirty="0" err="1">
                <a:solidFill>
                  <a:srgbClr val="818CF8"/>
                </a:solidFill>
                <a:sym typeface="Outfit Medium"/>
              </a:rPr>
              <a:t>статусів</a:t>
            </a:r>
            <a:r>
              <a:rPr lang="en-US" sz="2250" dirty="0">
                <a:solidFill>
                  <a:srgbClr val="818CF8"/>
                </a:solidFill>
                <a:sym typeface="Outfit Medium"/>
              </a:rPr>
              <a:t> </a:t>
            </a:r>
            <a:r>
              <a:rPr lang="en-US" sz="2250" dirty="0" err="1">
                <a:solidFill>
                  <a:srgbClr val="818CF8"/>
                </a:solidFill>
                <a:sym typeface="Outfit Medium"/>
              </a:rPr>
              <a:t>готовності</a:t>
            </a:r>
            <a:r>
              <a:rPr lang="en-US" sz="2250" dirty="0">
                <a:solidFill>
                  <a:srgbClr val="818CF8"/>
                </a:solidFill>
                <a:sym typeface="Outfit Medium"/>
              </a:rPr>
              <a:t> </a:t>
            </a:r>
            <a:r>
              <a:rPr lang="en-US" sz="2250" dirty="0" err="1">
                <a:solidFill>
                  <a:srgbClr val="818CF8"/>
                </a:solidFill>
                <a:sym typeface="Outfit Medium"/>
              </a:rPr>
              <a:t>медіаконтенту</a:t>
            </a:r>
            <a:endParaRPr lang="ru-RU" dirty="0" err="1"/>
          </a:p>
        </p:txBody>
      </p:sp>
      <p:sp>
        <p:nvSpPr>
          <p:cNvPr id="294" name="Google Shape;294;p27"/>
          <p:cNvSpPr txBox="1"/>
          <p:nvPr/>
        </p:nvSpPr>
        <p:spPr>
          <a:xfrm>
            <a:off x="947964" y="4871130"/>
            <a:ext cx="473059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Валідація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та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покращення</a:t>
            </a:r>
            <a:r>
              <a:rPr lang="en-US" sz="2250" b="0" i="0" u="none" strike="noStrike" cap="none" dirty="0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 </a:t>
            </a:r>
            <a:r>
              <a:rPr lang="en-US" sz="2250" b="0" i="0" u="none" strike="noStrike" cap="none" dirty="0" err="1">
                <a:solidFill>
                  <a:srgbClr val="818CF8"/>
                </a:solidFill>
                <a:latin typeface="Outfit Medium"/>
                <a:ea typeface="Outfit Medium"/>
                <a:cs typeface="Outfit Medium"/>
                <a:sym typeface="Outfit Medium"/>
              </a:rPr>
              <a:t>графіки</a:t>
            </a:r>
            <a:endParaRPr lang="ru-RU" dirty="0" err="1"/>
          </a:p>
        </p:txBody>
      </p:sp>
      <p:sp>
        <p:nvSpPr>
          <p:cNvPr id="296" name="Google Shape;296;p27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Інноваційні алгоритми оптимізації</a:t>
            </a:r>
            <a:endParaRPr/>
          </a:p>
        </p:txBody>
      </p:sp>
      <p:pic>
        <p:nvPicPr>
          <p:cNvPr id="2" name="Рисунок 1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CBF8ED-C3B3-9EB7-28DE-CB7950DC9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192" y="1295627"/>
            <a:ext cx="5476875" cy="5210175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E8F5499D-9068-7958-043A-054EE5D7BE2B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14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/>
        </p:nvSpPr>
        <p:spPr>
          <a:xfrm>
            <a:off x="571500" y="571500"/>
            <a:ext cx="555069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UI/UX: Уніфікація Дизайну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571500" y="2000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Дизайн повністю базується на концепції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Dark Theme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для значного зменшення зорового навантаження та надання веб-інтерфейсу преміального кінематографічного вигляду.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571500" y="309741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Використання суворої парадигми Mobile-first гарантує ідентичний користувацький досвід та повне збереження навігаційної ієрархії незалежно від того, відкритий TMA на смартфоні чи на широкому екрані десктопу.</a:t>
            </a:r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9220" y="371475"/>
            <a:ext cx="3609975" cy="61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0BF67C2B-4F7B-2991-8A5D-74B6FD1CE26C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15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571500" y="19192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Інтерфейс розроблено з акцентом на швидкість доступу до музики: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70379" y="275159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809625" y="26717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Навігаційна панель: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Ергономічно розташована у нижній частині екрану для зручного керування додатком однією рукою.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34093" y="380886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809625" y="37290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MiniPlayer: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Постійно закріплена та доступна панель, що дозволяє контролювати відтворення не залишаючи поточного розділу.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634093" y="486614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809625" y="47863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Контентна сітка: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Динамічні візуальні розділи "Нещодавно слухали" та "Рекомендації" з алгоритмами плавної прокрутки.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Інтерфейс: Головна сторінка</a:t>
            </a:r>
            <a:endParaRPr/>
          </a:p>
        </p:txBody>
      </p:sp>
      <p:pic>
        <p:nvPicPr>
          <p:cNvPr id="319" name="Google Shape;31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7001" y="226838"/>
            <a:ext cx="3891450" cy="64043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B37AA1C-DE59-BAB8-CD20-C9A6C92FFCB1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16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639" y="3301368"/>
            <a:ext cx="5083175" cy="337341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571500" y="1341941"/>
            <a:ext cx="7340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Управління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відтворенням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повністю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інкапсульоване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у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спеціальний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кастомний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хук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useAudioPlayer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Це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спрощує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архітектуру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та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зменшує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зачеплення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коду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lang="ru-RU" b="0" i="0" u="none" strike="noStrike" cap="none" dirty="0">
              <a:ea typeface="Outfit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571500" y="2082168"/>
            <a:ext cx="726757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надійної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синхронізації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прогрес-бару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використовується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подієве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програмування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(event listeners) у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комбінації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з React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useEffect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Цей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підхід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дозволяє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безпосередньо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взаємодіяти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з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HTML5 Audio API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минаючи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зайві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цикли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рендерингу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328" name="Google Shape;328;p30"/>
          <p:cNvSpPr txBox="1"/>
          <p:nvPr/>
        </p:nvSpPr>
        <p:spPr>
          <a:xfrm>
            <a:off x="498928" y="571500"/>
            <a:ext cx="1169238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Цікавий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фрагмент</a:t>
            </a: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коду</a:t>
            </a:r>
            <a:r>
              <a:rPr lang="en-US" sz="3300" b="0" i="0" u="none" strike="noStrike" cap="none" dirty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</a:t>
            </a:r>
            <a:r>
              <a:rPr lang="en-US" sz="3300" b="0" i="0" u="none" strike="noStrike" cap="none" dirty="0" err="1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useAudioPlayer</a:t>
            </a:r>
            <a:endParaRPr lang="ru-RU" dirty="0" err="1"/>
          </a:p>
        </p:txBody>
      </p:sp>
      <p:pic>
        <p:nvPicPr>
          <p:cNvPr id="2" name="Рисунок 1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12C53B-5C4B-8FDB-CAA6-756573249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821" y="572634"/>
            <a:ext cx="3619500" cy="6162675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8A933220-FF3B-50E8-941B-C97D0274F39B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17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 txBox="1"/>
          <p:nvPr/>
        </p:nvSpPr>
        <p:spPr>
          <a:xfrm>
            <a:off x="3729668" y="543958"/>
            <a:ext cx="4725089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Піраміда </a:t>
            </a: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Тестування</a:t>
            </a: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ПЗ</a:t>
            </a:r>
            <a:endParaRPr/>
          </a:p>
        </p:txBody>
      </p:sp>
      <p:pic>
        <p:nvPicPr>
          <p:cNvPr id="2" name="Рисунок 1" descr="Изображение выглядит как текст, тре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C13AC1-210C-2830-9CD5-2EC942675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949" y="1358747"/>
            <a:ext cx="5063280" cy="5086121"/>
          </a:xfrm>
          <a:prstGeom prst="rect">
            <a:avLst/>
          </a:prstGeom>
        </p:spPr>
      </p:pic>
      <p:pic>
        <p:nvPicPr>
          <p:cNvPr id="3" name="Рисунок 2" descr="Изображение выглядит как Графика, символ, творческий подход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A2EB76-A936-7F1E-FDE7-5618B489E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037" y="4539342"/>
            <a:ext cx="1642383" cy="1502229"/>
          </a:xfrm>
          <a:prstGeom prst="rect">
            <a:avLst/>
          </a:prstGeom>
        </p:spPr>
      </p:pic>
      <p:pic>
        <p:nvPicPr>
          <p:cNvPr id="4" name="Рисунок 3" descr="Значок Концепции Unit Testing Этап Разработки Программного Обеспечения Идея  Тонкой Линии Иллюстрации Проверка Перфоманса Приложения Исходны — стоковая  ...">
            <a:extLst>
              <a:ext uri="{FF2B5EF4-FFF2-40B4-BE49-F238E27FC236}">
                <a16:creationId xmlns:a16="http://schemas.microsoft.com/office/drawing/2014/main" id="{259F4CB2-C3C8-D5CB-C614-E4533A27D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79" y="3497263"/>
            <a:ext cx="2451099" cy="2947763"/>
          </a:xfrm>
          <a:prstGeom prst="rect">
            <a:avLst/>
          </a:prstGeom>
        </p:spPr>
      </p:pic>
      <p:pic>
        <p:nvPicPr>
          <p:cNvPr id="5" name="Рисунок 4" descr="E2E Testing - Engineering Fundamentals Playbook">
            <a:extLst>
              <a:ext uri="{FF2B5EF4-FFF2-40B4-BE49-F238E27FC236}">
                <a16:creationId xmlns:a16="http://schemas.microsoft.com/office/drawing/2014/main" id="{844BF6CE-8B36-B846-BE32-75D2C41B5B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978" y="1167492"/>
            <a:ext cx="2469243" cy="2447472"/>
          </a:xfrm>
          <a:prstGeom prst="rect">
            <a:avLst/>
          </a:prstGeom>
        </p:spPr>
      </p:pic>
      <p:pic>
        <p:nvPicPr>
          <p:cNvPr id="7" name="Рисунок 6" descr="Локаторы | Playwright">
            <a:extLst>
              <a:ext uri="{FF2B5EF4-FFF2-40B4-BE49-F238E27FC236}">
                <a16:creationId xmlns:a16="http://schemas.microsoft.com/office/drawing/2014/main" id="{E7C44E38-B415-44C5-FA2F-FB38AC69A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540658"/>
            <a:ext cx="2743200" cy="2743200"/>
          </a:xfrm>
          <a:prstGeom prst="rect">
            <a:avLst/>
          </a:prstGeom>
        </p:spPr>
      </p:pic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D7BE5A3F-F973-06DD-5F42-3F062E8A43DE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18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571500" y="20716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E2E-тестування за допомогою Playwright перевіряє систему як єдине ціле. Ключові автоматизовані сценарії включають: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724589" y="289760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809625" y="28241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Автоматичне введення тестового пошукового запиту та строга валідація появи результатів у DOM-дереві.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715408" y="365926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809625" y="35766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Програмний клік по знайденому треку та перевірка переходу об'єкта плеєра у активний стан Playing.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706227" y="4402558"/>
            <a:ext cx="3913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809625" y="43291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Перевірка стабільності роботи черги відтворення та безпомилковості кнопок перемикання пісень.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Автоматизація наскрізних сценаріїв</a:t>
            </a:r>
            <a:endParaRPr/>
          </a:p>
        </p:txBody>
      </p:sp>
      <p:pic>
        <p:nvPicPr>
          <p:cNvPr id="2" name="Рисунок 1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245320-9984-FDBE-FBD9-E377E4C88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405" y="3393826"/>
            <a:ext cx="5943600" cy="676275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8E6214E6-AA6E-8956-5C4B-84F9AA01530E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19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Апробація результатів</a:t>
            </a:r>
            <a:endParaRPr/>
          </a:p>
        </p:txBody>
      </p:sp>
      <p:pic>
        <p:nvPicPr>
          <p:cNvPr id="2" name="Рисунок 1" descr="Изображение выглядит как текст, снимок экрана, графический дизайн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EB94D3-BEAB-8D60-F502-1472DAECF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59" y="1710774"/>
            <a:ext cx="5784627" cy="4053760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1A562B-0438-F98C-FE12-7673B4ED21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89" t="68" r="11765" b="7064"/>
          <a:stretch>
            <a:fillRect/>
          </a:stretch>
        </p:blipFill>
        <p:spPr>
          <a:xfrm>
            <a:off x="6232161" y="1714224"/>
            <a:ext cx="5809649" cy="4060158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AEA2623-00C0-958A-51B2-08A346AAC2E4}"/>
              </a:ext>
            </a:extLst>
          </p:cNvPr>
          <p:cNvSpPr>
            <a:spLocks noGrp="1"/>
          </p:cNvSpPr>
          <p:nvPr/>
        </p:nvSpPr>
        <p:spPr>
          <a:xfrm>
            <a:off x="21771" y="6312808"/>
            <a:ext cx="551543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20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1333500" y="1914525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Здійснено глибокий аналіз предметної галузі та визначено ключову проблематику існуючих веб-рішень для відтворення медіа.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1333500" y="2762250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Спроєктовано та програмно реалізовано клієнтську частину (фронтенд) системи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Hydra Music Player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у перспективному форматі Telegram Mini App.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1333500" y="3609975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Впроваджено високоефективні алгоритми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Smart Preload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та асинхронного опитування, що забезпечили миттєву реакцію інтерфейсу.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1333500" y="4457700"/>
            <a:ext cx="1000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Створено кросплатформений інтерфейс з динамічною локалізацією та спеціалізованою підтримкою Dark Theme.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1333500" y="5000625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Проведено комплексне багаторівневе тестування системи; функціональні показники повністю відповідають поставленим суворим вимогам.</a:t>
            </a:r>
            <a:endParaRPr/>
          </a:p>
        </p:txBody>
      </p:sp>
      <p:pic>
        <p:nvPicPr>
          <p:cNvPr id="371" name="Google Shape;37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198686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8345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68231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53004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07296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2296" y="571500"/>
            <a:ext cx="1218901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Висновки</a:t>
            </a:r>
            <a:endParaRPr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63A4D298-5187-8CA6-2E39-6C6866CCD884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21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/>
        </p:nvSpPr>
        <p:spPr>
          <a:xfrm>
            <a:off x="295275" y="2459586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Дякую за увагу!</a:t>
            </a:r>
            <a:endParaRPr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D33C8AC3-45CE-C997-D25A-C1C5C283D1A1}"/>
              </a:ext>
            </a:extLst>
          </p:cNvPr>
          <p:cNvSpPr>
            <a:spLocks noGrp="1"/>
          </p:cNvSpPr>
          <p:nvPr/>
        </p:nvSpPr>
        <p:spPr>
          <a:xfrm>
            <a:off x="145143" y="6312808"/>
            <a:ext cx="428171" cy="39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650">
                <a:solidFill>
                  <a:schemeClr val="bg1"/>
                </a:solidFill>
                <a:latin typeface="Outfit"/>
              </a:rPr>
              <a:t>22</a:t>
            </a:r>
            <a:endParaRPr lang="en-US" sz="1650" dirty="0">
              <a:solidFill>
                <a:schemeClr val="bg1"/>
              </a:solidFill>
              <a:latin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22</Slides>
  <Notes>21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346</cp:revision>
  <dcterms:modified xsi:type="dcterms:W3CDTF">2026-07-03T17:42:55Z</dcterms:modified>
</cp:coreProperties>
</file>